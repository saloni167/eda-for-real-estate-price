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69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51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2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8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48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01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1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7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0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68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77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68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Exploratory Data Analysis (EDA) for Real Estate Pricing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sz="2400" dirty="0">
                <a:solidFill>
                  <a:srgbClr val="0070C0"/>
                </a:solidFill>
              </a:rPr>
              <a:t>By </a:t>
            </a:r>
            <a:r>
              <a:rPr lang="en-IN" sz="2400" dirty="0">
                <a:solidFill>
                  <a:srgbClr val="0070C0"/>
                </a:solidFill>
              </a:rPr>
              <a:t>Saloni Piplani</a:t>
            </a:r>
            <a:endParaRPr sz="2400" dirty="0">
              <a:solidFill>
                <a:srgbClr val="0070C0"/>
              </a:solidFill>
            </a:endParaRPr>
          </a:p>
          <a:p>
            <a:r>
              <a:rPr sz="2400" dirty="0" err="1">
                <a:solidFill>
                  <a:srgbClr val="0070C0"/>
                </a:solidFill>
              </a:rPr>
              <a:t>NextHikes</a:t>
            </a:r>
            <a:r>
              <a:rPr sz="2400" dirty="0">
                <a:solidFill>
                  <a:srgbClr val="0070C0"/>
                </a:solidFill>
              </a:rPr>
              <a:t>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Project Objective</a:t>
            </a:r>
          </a:p>
        </p:txBody>
      </p:sp>
      <p:sp>
        <p:nvSpPr>
          <p:cNvPr id="98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Perform Exploratory Data Analysis (EDA) on Housing Data.</a:t>
            </a:r>
          </a:p>
          <a:p>
            <a:r>
              <a:t>Identify key factors affecting house prices.</a:t>
            </a:r>
          </a:p>
          <a:p>
            <a:r>
              <a:t>Engineer new features for better insights.</a:t>
            </a:r>
          </a:p>
          <a:p>
            <a:r>
              <a:t>Build regression models to predict SalePrice.</a:t>
            </a:r>
          </a:p>
          <a:p>
            <a:r>
              <a:t>Provide actionable business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Dataset Overview</a:t>
            </a:r>
          </a:p>
        </p:txBody>
      </p:sp>
      <p:sp>
        <p:nvSpPr>
          <p:cNvPr id="101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Dataset Name: housing_data.csv</a:t>
            </a:r>
          </a:p>
          <a:p>
            <a:r>
              <a:rPr dirty="0"/>
              <a:t>Total Records: 1460 | Total Features: 81</a:t>
            </a:r>
          </a:p>
          <a:p>
            <a:r>
              <a:rPr dirty="0"/>
              <a:t>Target Variable: </a:t>
            </a:r>
            <a:r>
              <a:rPr dirty="0" err="1"/>
              <a:t>SalePrice</a:t>
            </a:r>
            <a:endParaRPr dirty="0"/>
          </a:p>
          <a:p>
            <a:r>
              <a:rPr dirty="0"/>
              <a:t>Missing Values: </a:t>
            </a:r>
            <a:r>
              <a:rPr dirty="0" err="1"/>
              <a:t>GarageYrBlt</a:t>
            </a:r>
            <a:r>
              <a:rPr dirty="0"/>
              <a:t> (5.5%), Electrical (0.07%)</a:t>
            </a:r>
          </a:p>
          <a:p>
            <a:r>
              <a:rPr dirty="0"/>
              <a:t>Duplicates: None</a:t>
            </a:r>
          </a:p>
          <a:p>
            <a:r>
              <a:rPr dirty="0"/>
              <a:t>Numeric Columns: 36 | Categorical Columns: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Libraries Used</a:t>
            </a:r>
          </a:p>
        </p:txBody>
      </p:sp>
      <p:sp>
        <p:nvSpPr>
          <p:cNvPr id="104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pandas – data manipulation</a:t>
            </a:r>
          </a:p>
          <a:p>
            <a:r>
              <a:t>numpy – numerical operations</a:t>
            </a:r>
          </a:p>
          <a:p>
            <a:r>
              <a:t>matplotlib &amp; seaborn – data visualization</a:t>
            </a:r>
          </a:p>
          <a:p>
            <a:r>
              <a:t>sklearn – preprocessing &amp; modeling</a:t>
            </a:r>
          </a:p>
          <a:p>
            <a:r>
              <a:t>scipy – statistical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Data Cleaning &amp; Preprocessing</a:t>
            </a:r>
          </a:p>
        </p:txBody>
      </p:sp>
      <p:sp>
        <p:nvSpPr>
          <p:cNvPr id="107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Handled missing values using median/mode.</a:t>
            </a:r>
          </a:p>
          <a:p>
            <a:r>
              <a:rPr dirty="0"/>
              <a:t>Removed duplicates &amp; unnecessary columns.</a:t>
            </a:r>
          </a:p>
          <a:p>
            <a:r>
              <a:rPr dirty="0"/>
              <a:t>Encoded categorical data using </a:t>
            </a:r>
            <a:r>
              <a:rPr dirty="0" err="1"/>
              <a:t>OneHotEncoder</a:t>
            </a:r>
            <a:r>
              <a:rPr dirty="0"/>
              <a:t>.</a:t>
            </a:r>
          </a:p>
          <a:p>
            <a:r>
              <a:rPr dirty="0"/>
              <a:t>Scaled numeric features using </a:t>
            </a:r>
            <a:r>
              <a:rPr dirty="0" err="1"/>
              <a:t>StandardScaler</a:t>
            </a:r>
            <a:r>
              <a:rPr dirty="0"/>
              <a:t>.</a:t>
            </a:r>
          </a:p>
          <a:p>
            <a:r>
              <a:rPr dirty="0"/>
              <a:t>Created derived columns (</a:t>
            </a:r>
            <a:r>
              <a:rPr dirty="0" err="1"/>
              <a:t>Price_per_sqft</a:t>
            </a:r>
            <a:r>
              <a:rPr dirty="0"/>
              <a:t>, </a:t>
            </a:r>
            <a:r>
              <a:rPr dirty="0" err="1"/>
              <a:t>TotalSF</a:t>
            </a:r>
            <a:r>
              <a:rPr dirty="0"/>
              <a:t>, etc.).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Univariate Analysis</a:t>
            </a:r>
          </a:p>
        </p:txBody>
      </p:sp>
      <p:sp>
        <p:nvSpPr>
          <p:cNvPr id="110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SalePrice distribution is right-skewed.</a:t>
            </a:r>
          </a:p>
          <a:p>
            <a:r>
              <a:t>Applied log transformation for normalization.</a:t>
            </a:r>
          </a:p>
          <a:p>
            <a:r>
              <a:t>Used histograms, boxplots, and KDE plots.</a:t>
            </a:r>
          </a:p>
          <a:p>
            <a:r>
              <a:t>Example Code:</a:t>
            </a:r>
          </a:p>
          <a:p>
            <a:r>
              <a:t>plt.hist(df['SalePrice'], bins=50)</a:t>
            </a:r>
          </a:p>
          <a:p>
            <a:r>
              <a:t>plt.title('SalePrice Distribution')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Multivariate Analysis</a:t>
            </a:r>
          </a:p>
        </p:txBody>
      </p:sp>
      <p:sp>
        <p:nvSpPr>
          <p:cNvPr id="113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332613" indent="-332613" defTabSz="443484">
              <a:defRPr sz="3104"/>
            </a:pPr>
            <a:r>
              <a:t>Examined correlation between variables and SalePrice.</a:t>
            </a:r>
          </a:p>
          <a:p>
            <a:pPr marL="332613" indent="-332613" defTabSz="443484">
              <a:defRPr sz="3104"/>
            </a:pPr>
            <a:r>
              <a:t>Top correlated features:</a:t>
            </a:r>
          </a:p>
          <a:p>
            <a:pPr marL="332613" indent="-332613" defTabSz="443484">
              <a:defRPr sz="3104"/>
            </a:pPr>
            <a:r>
              <a:t>  - OverallQual (0.79)</a:t>
            </a:r>
          </a:p>
          <a:p>
            <a:pPr marL="332613" indent="-332613" defTabSz="443484">
              <a:defRPr sz="3104"/>
            </a:pPr>
            <a:r>
              <a:t>  - GrLivArea (0.71)</a:t>
            </a:r>
          </a:p>
          <a:p>
            <a:pPr marL="332613" indent="-332613" defTabSz="443484">
              <a:defRPr sz="3104"/>
            </a:pPr>
            <a:r>
              <a:t>  - GarageCars (0.64)</a:t>
            </a:r>
          </a:p>
          <a:p>
            <a:pPr marL="332613" indent="-332613" defTabSz="443484">
              <a:defRPr sz="3104"/>
            </a:pPr>
            <a:r>
              <a:t>  - TotalBsmtSF (0.61)</a:t>
            </a:r>
          </a:p>
          <a:p>
            <a:pPr marL="332613" indent="-332613" defTabSz="443484">
              <a:defRPr sz="3104"/>
            </a:pPr>
            <a:r>
              <a:t>Visualized using scatterplots &amp; heatmaps.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Feature Engineering</a:t>
            </a:r>
          </a:p>
        </p:txBody>
      </p:sp>
      <p:sp>
        <p:nvSpPr>
          <p:cNvPr id="116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New engineered features:</a:t>
            </a:r>
          </a:p>
          <a:p>
            <a:r>
              <a:t>HouseAge = YrSold - YearBuilt</a:t>
            </a:r>
          </a:p>
          <a:p>
            <a:r>
              <a:t>TotalBath = FullBath + HalfBath*0.5 + BsmtFullBath</a:t>
            </a:r>
          </a:p>
          <a:p>
            <a:r>
              <a:t>TotalSF = GrLivArea + TotalBsmtSF</a:t>
            </a:r>
          </a:p>
          <a:p>
            <a:r>
              <a:t>Price_per_sqft = SalePrice / GrLivArea</a:t>
            </a:r>
          </a:p>
          <a:p>
            <a:r>
              <a:t>HasPool = (PoolArea &gt;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Model Building</a:t>
            </a:r>
          </a:p>
        </p:txBody>
      </p:sp>
      <p:sp>
        <p:nvSpPr>
          <p:cNvPr id="119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Split dataset: Train (80%) / Test (20%)</a:t>
            </a:r>
          </a:p>
          <a:p>
            <a:r>
              <a:t>Applied preprocessing pipelines.</a:t>
            </a:r>
          </a:p>
          <a:p>
            <a:r>
              <a:t>Models built:</a:t>
            </a:r>
          </a:p>
          <a:p>
            <a:r>
              <a:t>  - Linear Regression (baseline)</a:t>
            </a:r>
          </a:p>
          <a:p>
            <a:r>
              <a:t>  - Random Forest Regressor (optimized)</a:t>
            </a:r>
          </a:p>
          <a:p>
            <a:r>
              <a:t>Used log1p(SalePrice) for normalization.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Model Evaluation</a:t>
            </a:r>
          </a:p>
        </p:txBody>
      </p:sp>
      <p:sp>
        <p:nvSpPr>
          <p:cNvPr id="122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Metrics: RMSE, MAE, R²</a:t>
            </a:r>
          </a:p>
          <a:p>
            <a:r>
              <a:t>Linear Regression → R² ≈ 0.83</a:t>
            </a:r>
          </a:p>
          <a:p>
            <a:r>
              <a:t>Random Forest → R² ≈ 0.91</a:t>
            </a:r>
          </a:p>
          <a:p>
            <a:r>
              <a:t>Top important features:</a:t>
            </a:r>
          </a:p>
          <a:p>
            <a:r>
              <a:t>  - OverallQual, GrLivArea, GarageCars, TotalBsmtSF</a:t>
            </a:r>
          </a:p>
          <a:p>
            <a:r>
              <a:t>Visualized via feature importance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125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318897" indent="-318897" defTabSz="425195">
              <a:defRPr sz="2976"/>
            </a:pPr>
            <a:r>
              <a:t>House quality (OverallQual) and area are key price drivers.</a:t>
            </a:r>
          </a:p>
          <a:p>
            <a:pPr marL="318897" indent="-318897" defTabSz="425195">
              <a:defRPr sz="2976"/>
            </a:pPr>
            <a:r>
              <a:t>Newer houses with modern amenities fetch higher prices.</a:t>
            </a:r>
          </a:p>
          <a:p>
            <a:pPr marL="318897" indent="-318897" defTabSz="425195">
              <a:defRPr sz="2976"/>
            </a:pPr>
            <a:r>
              <a:t>Garage &amp; basement area strongly affect valuation.</a:t>
            </a:r>
          </a:p>
          <a:p>
            <a:pPr marL="318897" indent="-318897" defTabSz="425195">
              <a:defRPr sz="2976"/>
            </a:pPr>
            <a:r>
              <a:t>Improve overall quality and size to increase property value.</a:t>
            </a:r>
          </a:p>
          <a:p>
            <a:pPr marL="318897" indent="-318897" defTabSz="425195">
              <a:defRPr sz="2976"/>
            </a:pPr>
            <a:r>
              <a:t>Maintain good neighborhood &amp; amenities for premium pricing.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128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EDA revealed relationships between features and price.</a:t>
            </a:r>
          </a:p>
          <a:p>
            <a:r>
              <a:t>Strong predictors verified through modeling.</a:t>
            </a:r>
          </a:p>
          <a:p>
            <a:r>
              <a:t>Model performance supports reliable price prediction.</a:t>
            </a:r>
          </a:p>
          <a:p>
            <a:r>
              <a:t>Insights help in pricing &amp; investment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463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Gill Sans MT</vt:lpstr>
      <vt:lpstr>Gallery</vt:lpstr>
      <vt:lpstr>Exploratory Data Analysis (EDA) for Real Estate Pricing</vt:lpstr>
      <vt:lpstr>Project Objective</vt:lpstr>
      <vt:lpstr>Dataset Overview</vt:lpstr>
      <vt:lpstr>Libraries Used</vt:lpstr>
      <vt:lpstr>Data Cleaning &amp; Preprocessing</vt:lpstr>
      <vt:lpstr>Univariate Analysis</vt:lpstr>
      <vt:lpstr>Multivariate Analysis</vt:lpstr>
      <vt:lpstr>Feature Engineering</vt:lpstr>
      <vt:lpstr>Model Building</vt:lpstr>
      <vt:lpstr>Model Evaluation</vt:lpstr>
      <vt:lpstr>Insights &amp;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saloni piplani</cp:lastModifiedBy>
  <cp:revision>1</cp:revision>
  <dcterms:modified xsi:type="dcterms:W3CDTF">2026-09-23T18:26:18Z</dcterms:modified>
</cp:coreProperties>
</file>